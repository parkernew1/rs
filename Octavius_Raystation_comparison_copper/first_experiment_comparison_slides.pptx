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/>
    <p:restoredTop sz="94658"/>
  </p:normalViewPr>
  <p:slideViewPr>
    <p:cSldViewPr snapToGrid="0">
      <p:cViewPr>
        <p:scale>
          <a:sx n="104" d="100"/>
          <a:sy n="104" d="100"/>
        </p:scale>
        <p:origin x="-8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High-dose CSV above MCC (%)</c:v>
          </c:tx>
          <c:spPr>
            <a:solidFill>
              <a:srgbClr val="C65F00"/>
            </a:solidFill>
          </c:spPr>
          <c:invertIfNegative val="1"/>
          <c:dLbls>
            <c:delete val="1"/>
          </c:dLbls>
          <c:cat>
            <c:strLit>
              <c:ptCount val="4"/>
              <c:pt idx="0">
                <c:v>6 MeV / 10x10</c:v>
              </c:pt>
              <c:pt idx="1">
                <c:v>9 MeV / 10x10</c:v>
              </c:pt>
              <c:pt idx="2">
                <c:v>9 MeV / 6x6</c:v>
              </c:pt>
              <c:pt idx="3">
                <c:v>12 MeV / 10x10</c:v>
              </c:pt>
            </c:strLit>
          </c:cat>
          <c:val>
            <c:numLit>
              <c:formatCode>General</c:formatCode>
              <c:ptCount val="4"/>
              <c:pt idx="0">
                <c:v>3.1580186605938199</c:v>
              </c:pt>
              <c:pt idx="1">
                <c:v>4.2730615012930961</c:v>
              </c:pt>
              <c:pt idx="2">
                <c:v>5.143328603542674</c:v>
              </c:pt>
              <c:pt idx="3">
                <c:v>4.4246951741010898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03F-FD47-9F35-BBB0A340DB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percent above MCC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D6673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D6673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Profile RMS &gt;=10% (pp)</c:v>
          </c:tx>
          <c:spPr>
            <a:solidFill>
              <a:srgbClr val="0B5CAD"/>
            </a:solidFill>
          </c:spPr>
          <c:invertIfNegative val="1"/>
          <c:cat>
            <c:strLit>
              <c:ptCount val="4"/>
              <c:pt idx="0">
                <c:v>6 MeV / 10x10</c:v>
              </c:pt>
              <c:pt idx="1">
                <c:v>9 MeV / 10x10</c:v>
              </c:pt>
              <c:pt idx="2">
                <c:v>9 MeV / 6x6</c:v>
              </c:pt>
              <c:pt idx="3">
                <c:v>12 MeV / 10x10</c:v>
              </c:pt>
            </c:strLit>
          </c:cat>
          <c:val>
            <c:numLit>
              <c:formatCode>General</c:formatCode>
              <c:ptCount val="4"/>
              <c:pt idx="0">
                <c:v>3.6598060739275904</c:v>
              </c:pt>
              <c:pt idx="1">
                <c:v>3.0867076492785168</c:v>
              </c:pt>
              <c:pt idx="2">
                <c:v>1.8003653388674954</c:v>
              </c:pt>
              <c:pt idx="3">
                <c:v>2.0473156942188657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3E9-AA40-BA84-F1DD0752C557}"/>
            </c:ext>
          </c:extLst>
        </c:ser>
        <c:ser>
          <c:idx val="1"/>
          <c:order val="1"/>
          <c:tx>
            <c:v>Penumbra/shoulder RMS (pp)</c:v>
          </c:tx>
          <c:spPr>
            <a:solidFill>
              <a:srgbClr val="A4342D"/>
            </a:solidFill>
          </c:spPr>
          <c:invertIfNegative val="1"/>
          <c:cat>
            <c:strLit>
              <c:ptCount val="4"/>
              <c:pt idx="0">
                <c:v>6 MeV / 10x10</c:v>
              </c:pt>
              <c:pt idx="1">
                <c:v>9 MeV / 10x10</c:v>
              </c:pt>
              <c:pt idx="2">
                <c:v>9 MeV / 6x6</c:v>
              </c:pt>
              <c:pt idx="3">
                <c:v>12 MeV / 10x10</c:v>
              </c:pt>
            </c:strLit>
          </c:cat>
          <c:val>
            <c:numLit>
              <c:formatCode>General</c:formatCode>
              <c:ptCount val="4"/>
              <c:pt idx="0">
                <c:v>6.6825245090980632</c:v>
              </c:pt>
              <c:pt idx="1">
                <c:v>5.382529713172497</c:v>
              </c:pt>
              <c:pt idx="2">
                <c:v>2.555582693304904</c:v>
              </c:pt>
              <c:pt idx="3">
                <c:v>3.4602262281726044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3E9-AA40-BA84-F1DD0752C5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D6673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percentage points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D6673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5D6673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CE0F2-4EAD-262D-298C-8423921A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03881B-4102-9FB2-D7FC-9BC9C0AA5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4FFE9-E08A-E19F-CB84-C35E6DAD7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DDAF-0DAD-3433-5ED5-FCF9A298A6F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323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3BA944D-3BA7-4FCC-AEA3-70C50F2538D1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D6673"/>
                </a:solidFill>
              </a:defRPr>
            </a:pPr>
            <a:r>
              <a:rPr sz="1275" b="1">
                <a:solidFill>
                  <a:srgbClr val="5D6673"/>
                </a:solidFill>
              </a:rPr>
              <a:t>FIRST EXPERIMENT UPDATE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FE0E97-AC39-496C-9355-72F87782DBF1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9048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100" b="0">
                <a:solidFill>
                  <a:srgbClr val="0B0F14"/>
                </a:solidFill>
              </a:defRPr>
            </a:pPr>
            <a:r>
              <a:rPr sz="5100" b="0" dirty="0">
                <a:solidFill>
                  <a:srgbClr val="0B0F14"/>
                </a:solidFill>
              </a:rPr>
              <a:t>RayStation Monte Carlo for electron skin collimators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15A44B-7E7B-44BA-AA7F-D0E9AB309711}"/>
              </a:ext>
            </a:extLst>
          </p:cNvPr>
          <p:cNvSpPr>
            <a:spLocks noGrp="1"/>
          </p:cNvSpPr>
          <p:nvPr/>
        </p:nvSpPr>
        <p:spPr>
          <a:xfrm>
            <a:off x="400050" y="3733800"/>
            <a:ext cx="11279332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D6673"/>
                </a:solidFill>
              </a:defRPr>
            </a:pPr>
            <a:r>
              <a:rPr sz="1800" b="0" dirty="0">
                <a:solidFill>
                  <a:srgbClr val="5D6673"/>
                </a:solidFill>
              </a:rPr>
              <a:t>OCTAVIUS 1500 measured profiles vs RayStation DICOM dose profiles | copper plates | central cross</a:t>
            </a:r>
            <a:r>
              <a:rPr lang="en-US" sz="1800" b="0" dirty="0">
                <a:solidFill>
                  <a:srgbClr val="5D6673"/>
                </a:solidFill>
              </a:rPr>
              <a:t>-</a:t>
            </a:r>
            <a:r>
              <a:rPr sz="1800" b="0" dirty="0">
                <a:solidFill>
                  <a:srgbClr val="5D6673"/>
                </a:solidFill>
              </a:rPr>
              <a:t>plane</a:t>
            </a:r>
            <a:r>
              <a:rPr lang="en-US" sz="1800" b="0" dirty="0">
                <a:solidFill>
                  <a:srgbClr val="5D6673"/>
                </a:solidFill>
              </a:rPr>
              <a:t> profiles</a:t>
            </a:r>
            <a:endParaRPr sz="1800" b="0" dirty="0">
              <a:solidFill>
                <a:srgbClr val="5D66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279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342EE6-7EA6-49DA-8780-E2C90DA61DB9}"/>
              </a:ext>
            </a:extLst>
          </p:cNvPr>
          <p:cNvSpPr>
            <a:spLocks noGrp="1"/>
          </p:cNvSpPr>
          <p:nvPr/>
        </p:nvSpPr>
        <p:spPr>
          <a:xfrm>
            <a:off x="11525250" y="62865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A5E46-38C8-4D72-99FE-BD4AD4A2196C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0">
                <a:solidFill>
                  <a:srgbClr val="0B0F14"/>
                </a:solidFill>
              </a:defRPr>
            </a:pPr>
            <a:r>
              <a:rPr lang="en-US" sz="3600" b="0" dirty="0">
                <a:solidFill>
                  <a:srgbClr val="0B0F14"/>
                </a:solidFill>
              </a:rPr>
              <a:t>Fitting in the </a:t>
            </a:r>
            <a:r>
              <a:rPr sz="3600" b="0" dirty="0">
                <a:solidFill>
                  <a:srgbClr val="0B0F14"/>
                </a:solidFill>
              </a:rPr>
              <a:t>larger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E18725-54EE-406B-97D9-7920196ABCE6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D6673"/>
                </a:solidFill>
              </a:defRPr>
            </a:pPr>
            <a:r>
              <a:rPr sz="1650" b="0" dirty="0">
                <a:solidFill>
                  <a:srgbClr val="5D6673"/>
                </a:solidFill>
              </a:rPr>
              <a:t>The target paper is a validation study, </a:t>
            </a:r>
            <a:r>
              <a:rPr lang="en-US" sz="1650" b="0" dirty="0">
                <a:solidFill>
                  <a:srgbClr val="5D6673"/>
                </a:solidFill>
              </a:rPr>
              <a:t>but this </a:t>
            </a:r>
            <a:r>
              <a:rPr sz="1650" b="0" dirty="0">
                <a:solidFill>
                  <a:srgbClr val="5D6673"/>
                </a:solidFill>
              </a:rPr>
              <a:t>is the first structured comparison pass.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C6BF9C8-3268-46CF-A34A-14A677614A6F}"/>
              </a:ext>
            </a:extLst>
          </p:cNvPr>
          <p:cNvSpPr>
            <a:spLocks noGrp="1"/>
          </p:cNvSpPr>
          <p:nvPr/>
        </p:nvSpPr>
        <p:spPr>
          <a:xfrm>
            <a:off x="514350" y="2171700"/>
            <a:ext cx="5048250" cy="314325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BED3D0-EA42-43F2-A331-205D58F60523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B0F14"/>
                </a:solidFill>
              </a:defRPr>
            </a:pPr>
            <a:r>
              <a:rPr sz="2100" b="1">
                <a:solidFill>
                  <a:srgbClr val="0B0F14"/>
                </a:solidFill>
              </a:rPr>
              <a:t>Long-term question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1A7CE-0E12-411F-9359-8A932D8DAA6C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44291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B0F14"/>
                </a:solidFill>
              </a:defRPr>
            </a:pPr>
            <a:r>
              <a:rPr sz="1650" b="0" dirty="0">
                <a:solidFill>
                  <a:srgbClr val="0B0F14"/>
                </a:solidFill>
              </a:rPr>
              <a:t>- Can RayStation Monte Carlo calculate dose accurately when electron skin collimators are used?</a:t>
            </a:r>
          </a:p>
          <a:p>
            <a:pPr algn="l">
              <a:defRPr sz="1650" b="0">
                <a:solidFill>
                  <a:srgbClr val="0B0F14"/>
                </a:solidFill>
              </a:defRPr>
            </a:pPr>
            <a:r>
              <a:rPr sz="1650" b="0" dirty="0">
                <a:solidFill>
                  <a:srgbClr val="0B0F14"/>
                </a:solidFill>
              </a:rPr>
              <a:t>- Which regions are reliable: high dose, edge, low dose, and penumbra?</a:t>
            </a:r>
          </a:p>
          <a:p>
            <a:pPr algn="l">
              <a:defRPr sz="1650" b="0">
                <a:solidFill>
                  <a:srgbClr val="0B0F14"/>
                </a:solidFill>
              </a:defRPr>
            </a:pPr>
            <a:r>
              <a:rPr sz="1650" b="0" dirty="0">
                <a:solidFill>
                  <a:srgbClr val="0B0F14"/>
                </a:solidFill>
              </a:rPr>
              <a:t>- How do material, thickness, energy, field size,</a:t>
            </a:r>
            <a:r>
              <a:rPr lang="en-US" sz="1650" dirty="0">
                <a:solidFill>
                  <a:srgbClr val="0B0F14"/>
                </a:solidFill>
              </a:rPr>
              <a:t> extraction depth,</a:t>
            </a:r>
            <a:r>
              <a:rPr sz="1650" b="0" dirty="0">
                <a:solidFill>
                  <a:srgbClr val="0B0F14"/>
                </a:solidFill>
              </a:rPr>
              <a:t> and setup offset affect agreement?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842615D-6B79-42F9-9E87-95ECEEB575BF}"/>
              </a:ext>
            </a:extLst>
          </p:cNvPr>
          <p:cNvSpPr>
            <a:spLocks noGrp="1"/>
          </p:cNvSpPr>
          <p:nvPr/>
        </p:nvSpPr>
        <p:spPr>
          <a:xfrm>
            <a:off x="6286500" y="2171700"/>
            <a:ext cx="5048250" cy="314325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6507A2-5BA1-4496-B82E-7F8AA751C81C}"/>
              </a:ext>
            </a:extLst>
          </p:cNvPr>
          <p:cNvSpPr>
            <a:spLocks noGrp="1"/>
          </p:cNvSpPr>
          <p:nvPr/>
        </p:nvSpPr>
        <p:spPr>
          <a:xfrm>
            <a:off x="6534150" y="241935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B0F14"/>
                </a:solidFill>
              </a:defRPr>
            </a:pPr>
            <a:r>
              <a:rPr sz="2100" b="1">
                <a:solidFill>
                  <a:srgbClr val="0B0F14"/>
                </a:solidFill>
              </a:rPr>
              <a:t>Where we are now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D30581-4D3B-43C7-8D88-228E01783062}"/>
              </a:ext>
            </a:extLst>
          </p:cNvPr>
          <p:cNvSpPr>
            <a:spLocks noGrp="1"/>
          </p:cNvSpPr>
          <p:nvPr/>
        </p:nvSpPr>
        <p:spPr>
          <a:xfrm>
            <a:off x="6553200" y="2952750"/>
            <a:ext cx="442912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B0F14"/>
                </a:solidFill>
              </a:defRPr>
            </a:pPr>
            <a:r>
              <a:rPr sz="1650" b="0" dirty="0">
                <a:solidFill>
                  <a:srgbClr val="0B0F14"/>
                </a:solidFill>
              </a:rPr>
              <a:t>- First paired OCTAVIUS/RayStation profile set is processed.</a:t>
            </a:r>
          </a:p>
          <a:p>
            <a:pPr algn="l">
              <a:defRPr sz="1650" b="0">
                <a:solidFill>
                  <a:srgbClr val="0B0F14"/>
                </a:solidFill>
              </a:defRPr>
            </a:pPr>
            <a:r>
              <a:rPr sz="1650" b="0" dirty="0">
                <a:solidFill>
                  <a:srgbClr val="0B0F14"/>
                </a:solidFill>
              </a:rPr>
              <a:t>- Coverage is intentionally narrow: copper only, limited field sizes, limited offsets.</a:t>
            </a:r>
          </a:p>
          <a:p>
            <a:pPr algn="l">
              <a:defRPr sz="1650" b="0">
                <a:solidFill>
                  <a:srgbClr val="0B0F14"/>
                </a:solidFill>
              </a:defRPr>
            </a:pPr>
            <a:r>
              <a:rPr sz="1650" b="0" dirty="0">
                <a:solidFill>
                  <a:srgbClr val="0B0F14"/>
                </a:solidFill>
              </a:rPr>
              <a:t>- Useful for pipeline validation and hypothesis generation; too early for broad conclusions.</a:t>
            </a:r>
          </a:p>
        </p:txBody>
      </p:sp>
    </p:spTree>
    <p:extLst>
      <p:ext uri="{BB962C8B-B14F-4D97-AF65-F5344CB8AC3E}">
        <p14:creationId xmlns:p14="http://schemas.microsoft.com/office/powerpoint/2010/main" val="186679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677A74-24D6-488A-8971-C337965D8F83}"/>
              </a:ext>
            </a:extLst>
          </p:cNvPr>
          <p:cNvSpPr>
            <a:spLocks noGrp="1"/>
          </p:cNvSpPr>
          <p:nvPr/>
        </p:nvSpPr>
        <p:spPr>
          <a:xfrm>
            <a:off x="11525250" y="62865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0511B5-1DE4-48B8-BE09-4C86C61C331C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0">
                <a:solidFill>
                  <a:srgbClr val="0B0F14"/>
                </a:solidFill>
              </a:defRPr>
            </a:pPr>
            <a:r>
              <a:rPr sz="3600" b="0">
                <a:solidFill>
                  <a:srgbClr val="0B0F14"/>
                </a:solidFill>
              </a:rPr>
              <a:t>First experiment: what was compared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48F90F-2683-438F-A10F-4334182F3C7B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D6673"/>
                </a:solidFill>
              </a:defRPr>
            </a:pPr>
            <a:r>
              <a:rPr sz="1650" b="0" dirty="0">
                <a:solidFill>
                  <a:srgbClr val="5D6673"/>
                </a:solidFill>
              </a:rPr>
              <a:t>Matched filenames pair each measured MCC profile with a RayStation CSV dose profile.</a:t>
            </a:r>
          </a:p>
        </p:txBody>
      </p:sp>
      <p:graphicFrame>
        <p:nvGraphicFramePr>
          <p:cNvPr id="11" name="Table 10"/>
          <p:cNvGraphicFramePr/>
          <p:nvPr>
            <p:extLst>
              <p:ext uri="{D42A27DB-BD31-4B8C-83A1-F6EECF244321}">
                <p14:modId xmlns:p14="http://schemas.microsoft.com/office/powerpoint/2010/main" val="3048192959"/>
              </p:ext>
            </p:extLst>
          </p:nvPr>
        </p:nvGraphicFramePr>
        <p:xfrm>
          <a:off x="514350" y="1924050"/>
          <a:ext cx="11144250" cy="3429000"/>
        </p:xfrm>
        <a:graphic>
          <a:graphicData uri="http://schemas.openxmlformats.org/drawingml/2006/table">
            <a:tbl>
              <a:tblPr firstRow="1" bandRow="1"/>
              <a:tblGrid>
                <a:gridCol w="3015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2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65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Current coverage</a:t>
                      </a:r>
                    </a:p>
                  </a:txBody>
                  <a:tcPr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Important limitation</a:t>
                      </a:r>
                    </a:p>
                  </a:txBody>
                  <a:tcPr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Energies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6, 9, 12 MeV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Not every energy has every field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10x10 cm; 9 MeV also has 6x6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Only two field sizes so far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Collimator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One or two copper 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One material and two thicknesses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0B0F14"/>
                          </a:solidFill>
                        </a:rPr>
                        <a:t>Central cross</a:t>
                      </a:r>
                      <a:r>
                        <a:rPr lang="en-US" sz="1050" dirty="0">
                          <a:solidFill>
                            <a:srgbClr val="0B0F14"/>
                          </a:solidFill>
                        </a:rPr>
                        <a:t>-</a:t>
                      </a:r>
                      <a:r>
                        <a:rPr sz="1050" dirty="0">
                          <a:solidFill>
                            <a:srgbClr val="0B0F14"/>
                          </a:solidFill>
                        </a:rPr>
                        <a:t>plane at dmax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No full 3D or depth-dose validation yet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Comparisons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Raw Gy plus normalized shape/penumbra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0B0F14"/>
                          </a:solidFill>
                        </a:rPr>
                        <a:t>OCTAVIUS detector response is not isolated yet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FA9FD08-3894-4243-BE14-2A40DD9CB0FC}"/>
              </a:ext>
            </a:extLst>
          </p:cNvPr>
          <p:cNvSpPr>
            <a:spLocks noGrp="1"/>
          </p:cNvSpPr>
          <p:nvPr/>
        </p:nvSpPr>
        <p:spPr>
          <a:xfrm>
            <a:off x="571500" y="57150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673"/>
                </a:solidFill>
              </a:defRPr>
            </a:pPr>
            <a:r>
              <a:rPr sz="1350" b="0" dirty="0">
                <a:solidFill>
                  <a:srgbClr val="5D6673"/>
                </a:solidFill>
              </a:rPr>
              <a:t>Current analysis scripts: </a:t>
            </a:r>
            <a:r>
              <a:rPr sz="1350" b="0" dirty="0" err="1">
                <a:solidFill>
                  <a:srgbClr val="5D6673"/>
                </a:solidFill>
              </a:rPr>
              <a:t>detector_array_analysis.py</a:t>
            </a:r>
            <a:r>
              <a:rPr sz="1350" b="0" dirty="0">
                <a:solidFill>
                  <a:srgbClr val="5D6673"/>
                </a:solidFill>
              </a:rPr>
              <a:t> -&gt; MCC central profiles; </a:t>
            </a:r>
            <a:r>
              <a:rPr sz="1350" b="0" dirty="0" err="1">
                <a:solidFill>
                  <a:srgbClr val="5D6673"/>
                </a:solidFill>
              </a:rPr>
              <a:t>analyze.py</a:t>
            </a:r>
            <a:r>
              <a:rPr sz="1350" b="0" dirty="0">
                <a:solidFill>
                  <a:srgbClr val="5D6673"/>
                </a:solidFill>
              </a:rPr>
              <a:t> -&gt; RayStation point-dose CSVs; </a:t>
            </a:r>
            <a:r>
              <a:rPr sz="1350" b="0" dirty="0" err="1">
                <a:solidFill>
                  <a:srgbClr val="5D6673"/>
                </a:solidFill>
              </a:rPr>
              <a:t>comparison.py</a:t>
            </a:r>
            <a:r>
              <a:rPr sz="1350" b="0" dirty="0">
                <a:solidFill>
                  <a:srgbClr val="5D6673"/>
                </a:solidFill>
              </a:rPr>
              <a:t>/</a:t>
            </a:r>
            <a:r>
              <a:rPr sz="1350" b="0" dirty="0" err="1">
                <a:solidFill>
                  <a:srgbClr val="5D6673"/>
                </a:solidFill>
              </a:rPr>
              <a:t>raw_comparison.py</a:t>
            </a:r>
            <a:r>
              <a:rPr sz="1350" b="0" dirty="0">
                <a:solidFill>
                  <a:srgbClr val="5D6673"/>
                </a:solidFill>
              </a:rPr>
              <a:t> -&gt; paired comparison outputs.</a:t>
            </a:r>
          </a:p>
        </p:txBody>
      </p:sp>
    </p:spTree>
    <p:extLst>
      <p:ext uri="{BB962C8B-B14F-4D97-AF65-F5344CB8AC3E}">
        <p14:creationId xmlns:p14="http://schemas.microsoft.com/office/powerpoint/2010/main" val="37425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4CA0FE-9C87-4E50-AB09-5FE923F0BB8F}"/>
              </a:ext>
            </a:extLst>
          </p:cNvPr>
          <p:cNvSpPr>
            <a:spLocks noGrp="1"/>
          </p:cNvSpPr>
          <p:nvPr/>
        </p:nvSpPr>
        <p:spPr>
          <a:xfrm>
            <a:off x="11525250" y="62865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7438DA-2261-4B07-80B0-CDC89EFCBE13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0">
                <a:solidFill>
                  <a:srgbClr val="0B0F14"/>
                </a:solidFill>
              </a:defRPr>
            </a:pPr>
            <a:r>
              <a:rPr sz="3600" b="0">
                <a:solidFill>
                  <a:srgbClr val="0B0F14"/>
                </a:solidFill>
              </a:rPr>
              <a:t>Measurement-to-model comparison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8DEE28-FAB3-4091-BE46-F563A153AE58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D6673"/>
                </a:solidFill>
              </a:defRPr>
            </a:pPr>
            <a:r>
              <a:rPr sz="1650" b="0">
                <a:solidFill>
                  <a:srgbClr val="5D6673"/>
                </a:solidFill>
              </a:rPr>
              <a:t>Raw Gy agreement and normalized profile shape are intentionally separated.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D4EBAC-D1A4-4737-A0F7-9E0807C7B9A1}"/>
              </a:ext>
            </a:extLst>
          </p:cNvPr>
          <p:cNvSpPr>
            <a:spLocks noGrp="1"/>
          </p:cNvSpPr>
          <p:nvPr/>
        </p:nvSpPr>
        <p:spPr>
          <a:xfrm>
            <a:off x="514350" y="2305050"/>
            <a:ext cx="2343150" cy="17907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89D887-CA11-4BC0-8619-F301E03858D8}"/>
              </a:ext>
            </a:extLst>
          </p:cNvPr>
          <p:cNvSpPr>
            <a:spLocks noGrp="1"/>
          </p:cNvSpPr>
          <p:nvPr/>
        </p:nvSpPr>
        <p:spPr>
          <a:xfrm>
            <a:off x="723900" y="25146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5CAD"/>
                </a:solidFill>
              </a:defRPr>
            </a:pPr>
            <a:r>
              <a:rPr sz="2550" b="1">
                <a:solidFill>
                  <a:srgbClr val="0B5CAD"/>
                </a:solidFill>
              </a:rPr>
              <a:t>MCC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AE101F-5600-4C52-B689-47901292480B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1885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673"/>
                </a:solidFill>
              </a:defRPr>
            </a:pPr>
            <a:r>
              <a:rPr sz="1350" b="0">
                <a:solidFill>
                  <a:srgbClr val="5D6673"/>
                </a:solidFill>
              </a:rPr>
              <a:t>OCTAVIUS 1500 detector rows parsed and aligned to a common x grid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075BE532-D497-4108-A92E-C92B8D0BD422}"/>
              </a:ext>
            </a:extLst>
          </p:cNvPr>
          <p:cNvSpPr>
            <a:spLocks noGrp="1"/>
          </p:cNvSpPr>
          <p:nvPr/>
        </p:nvSpPr>
        <p:spPr>
          <a:xfrm>
            <a:off x="2943225" y="2990850"/>
            <a:ext cx="666750" cy="400050"/>
          </a:xfrm>
          <a:prstGeom prst="rightArrow">
            <a:avLst/>
          </a:prstGeom>
          <a:solidFill>
            <a:srgbClr val="D7DCE2"/>
          </a:solidFill>
          <a:ln w="0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DB3B79A-C267-4C52-ABD0-C6C8A9BF9695}"/>
              </a:ext>
            </a:extLst>
          </p:cNvPr>
          <p:cNvSpPr>
            <a:spLocks noGrp="1"/>
          </p:cNvSpPr>
          <p:nvPr/>
        </p:nvSpPr>
        <p:spPr>
          <a:xfrm>
            <a:off x="3371850" y="2305050"/>
            <a:ext cx="2343150" cy="17907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20F7B5-7CDF-426A-92B1-601067F8787A}"/>
              </a:ext>
            </a:extLst>
          </p:cNvPr>
          <p:cNvSpPr>
            <a:spLocks noGrp="1"/>
          </p:cNvSpPr>
          <p:nvPr/>
        </p:nvSpPr>
        <p:spPr>
          <a:xfrm>
            <a:off x="3581400" y="25146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5F00"/>
                </a:solidFill>
              </a:defRPr>
            </a:pPr>
            <a:r>
              <a:rPr sz="2550" b="1">
                <a:solidFill>
                  <a:srgbClr val="C65F00"/>
                </a:solidFill>
              </a:rPr>
              <a:t>CSV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9625CE-2226-4183-A002-27A1973AB2F0}"/>
              </a:ext>
            </a:extLst>
          </p:cNvPr>
          <p:cNvSpPr>
            <a:spLocks noGrp="1"/>
          </p:cNvSpPr>
          <p:nvPr/>
        </p:nvSpPr>
        <p:spPr>
          <a:xfrm>
            <a:off x="3581400" y="3067050"/>
            <a:ext cx="1885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673"/>
                </a:solidFill>
              </a:defRPr>
            </a:pPr>
            <a:r>
              <a:rPr sz="1350" b="0" dirty="0">
                <a:solidFill>
                  <a:srgbClr val="5D6673"/>
                </a:solidFill>
              </a:rPr>
              <a:t>RayStation DICOM dose sampled at dmax across x values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8B3312F9-DAF4-4C28-A3D7-B7AEA7000F53}"/>
              </a:ext>
            </a:extLst>
          </p:cNvPr>
          <p:cNvSpPr>
            <a:spLocks noGrp="1"/>
          </p:cNvSpPr>
          <p:nvPr/>
        </p:nvSpPr>
        <p:spPr>
          <a:xfrm>
            <a:off x="5800725" y="2990850"/>
            <a:ext cx="666750" cy="400050"/>
          </a:xfrm>
          <a:prstGeom prst="rightArrow">
            <a:avLst/>
          </a:prstGeom>
          <a:solidFill>
            <a:srgbClr val="D7DCE2"/>
          </a:solidFill>
          <a:ln w="0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C3DFB47-0AA7-443D-852E-C2464041F923}"/>
              </a:ext>
            </a:extLst>
          </p:cNvPr>
          <p:cNvSpPr>
            <a:spLocks noGrp="1"/>
          </p:cNvSpPr>
          <p:nvPr/>
        </p:nvSpPr>
        <p:spPr>
          <a:xfrm>
            <a:off x="6229350" y="2305050"/>
            <a:ext cx="2343150" cy="17907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6E1839-FE95-40D1-9DCC-6CB3466D5CFF}"/>
              </a:ext>
            </a:extLst>
          </p:cNvPr>
          <p:cNvSpPr>
            <a:spLocks noGrp="1"/>
          </p:cNvSpPr>
          <p:nvPr/>
        </p:nvSpPr>
        <p:spPr>
          <a:xfrm>
            <a:off x="6438900" y="25146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2715B"/>
                </a:solidFill>
              </a:defRPr>
            </a:pPr>
            <a:r>
              <a:rPr sz="2550" b="1">
                <a:solidFill>
                  <a:srgbClr val="12715B"/>
                </a:solidFill>
              </a:rPr>
              <a:t>Pair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E67659-EB32-41B3-BA23-0A9D183C26A5}"/>
              </a:ext>
            </a:extLst>
          </p:cNvPr>
          <p:cNvSpPr>
            <a:spLocks noGrp="1"/>
          </p:cNvSpPr>
          <p:nvPr/>
        </p:nvSpPr>
        <p:spPr>
          <a:xfrm>
            <a:off x="6438900" y="3067050"/>
            <a:ext cx="1885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673"/>
                </a:solidFill>
              </a:defRPr>
            </a:pPr>
            <a:r>
              <a:rPr sz="1350" b="0">
                <a:solidFill>
                  <a:srgbClr val="5D6673"/>
                </a:solidFill>
              </a:rPr>
              <a:t>Basename-matched MCC/CSV profiles compared point-by-point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D24D3AE0-3EF8-4E45-9617-C28C0EC57E85}"/>
              </a:ext>
            </a:extLst>
          </p:cNvPr>
          <p:cNvSpPr>
            <a:spLocks noGrp="1"/>
          </p:cNvSpPr>
          <p:nvPr/>
        </p:nvSpPr>
        <p:spPr>
          <a:xfrm>
            <a:off x="8658225" y="2990850"/>
            <a:ext cx="666750" cy="400050"/>
          </a:xfrm>
          <a:prstGeom prst="rightArrow">
            <a:avLst/>
          </a:prstGeom>
          <a:solidFill>
            <a:srgbClr val="D7DCE2"/>
          </a:solidFill>
          <a:ln w="0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394E8F6-E53D-47CD-B5F3-1DB46169C6F2}"/>
              </a:ext>
            </a:extLst>
          </p:cNvPr>
          <p:cNvSpPr>
            <a:spLocks noGrp="1"/>
          </p:cNvSpPr>
          <p:nvPr/>
        </p:nvSpPr>
        <p:spPr>
          <a:xfrm>
            <a:off x="9086850" y="2305050"/>
            <a:ext cx="2343150" cy="17907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ABF979-C417-4775-978D-06191C53BE71}"/>
              </a:ext>
            </a:extLst>
          </p:cNvPr>
          <p:cNvSpPr>
            <a:spLocks noGrp="1"/>
          </p:cNvSpPr>
          <p:nvPr/>
        </p:nvSpPr>
        <p:spPr>
          <a:xfrm>
            <a:off x="9296400" y="25146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0F14"/>
                </a:solidFill>
              </a:defRPr>
            </a:pPr>
            <a:r>
              <a:rPr sz="2550" b="1">
                <a:solidFill>
                  <a:srgbClr val="0B0F14"/>
                </a:solidFill>
              </a:rPr>
              <a:t>Report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C57CE7-99A8-4A23-9632-BC120A705FC0}"/>
              </a:ext>
            </a:extLst>
          </p:cNvPr>
          <p:cNvSpPr>
            <a:spLocks noGrp="1"/>
          </p:cNvSpPr>
          <p:nvPr/>
        </p:nvSpPr>
        <p:spPr>
          <a:xfrm>
            <a:off x="9296400" y="3067050"/>
            <a:ext cx="1885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673"/>
                </a:solidFill>
              </a:defRPr>
            </a:pPr>
            <a:r>
              <a:rPr sz="1350" b="0">
                <a:solidFill>
                  <a:srgbClr val="5D6673"/>
                </a:solidFill>
              </a:rPr>
              <a:t>Raw Gy tables, normalized metrics, SVG overlays, batch summaries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A5C22AE-2E28-4E69-8BA9-491E08DFFEDD}"/>
              </a:ext>
            </a:extLst>
          </p:cNvPr>
          <p:cNvSpPr>
            <a:spLocks noGrp="1"/>
          </p:cNvSpPr>
          <p:nvPr/>
        </p:nvSpPr>
        <p:spPr>
          <a:xfrm>
            <a:off x="1143000" y="4857750"/>
            <a:ext cx="271462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87A837-0257-44D0-82EC-226681460F55}"/>
              </a:ext>
            </a:extLst>
          </p:cNvPr>
          <p:cNvSpPr>
            <a:spLocks noGrp="1"/>
          </p:cNvSpPr>
          <p:nvPr/>
        </p:nvSpPr>
        <p:spPr>
          <a:xfrm>
            <a:off x="1352550" y="5029200"/>
            <a:ext cx="22955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2715B"/>
                </a:solidFill>
              </a:defRPr>
            </a:pPr>
            <a:r>
              <a:rPr sz="2550" b="1">
                <a:solidFill>
                  <a:srgbClr val="12715B"/>
                </a:solidFill>
              </a:rPr>
              <a:t>field-center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3B5E72-1FD4-4514-B483-35F3D0D281B1}"/>
              </a:ext>
            </a:extLst>
          </p:cNvPr>
          <p:cNvSpPr>
            <a:spLocks noGrp="1"/>
          </p:cNvSpPr>
          <p:nvPr/>
        </p:nvSpPr>
        <p:spPr>
          <a:xfrm>
            <a:off x="1352550" y="548640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6673"/>
                </a:solidFill>
              </a:defRPr>
            </a:pPr>
            <a:r>
              <a:rPr sz="1275" b="0">
                <a:solidFill>
                  <a:srgbClr val="5D6673"/>
                </a:solidFill>
              </a:rPr>
              <a:t>default x alignment using 80% midpoint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31D0FF0-FC74-4D4D-8DEB-5850F47ADBAD}"/>
              </a:ext>
            </a:extLst>
          </p:cNvPr>
          <p:cNvSpPr>
            <a:spLocks noGrp="1"/>
          </p:cNvSpPr>
          <p:nvPr/>
        </p:nvSpPr>
        <p:spPr>
          <a:xfrm>
            <a:off x="4743450" y="4857750"/>
            <a:ext cx="271462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31D96E-AC9E-4120-B0F0-21B1A40807CA}"/>
              </a:ext>
            </a:extLst>
          </p:cNvPr>
          <p:cNvSpPr>
            <a:spLocks noGrp="1"/>
          </p:cNvSpPr>
          <p:nvPr/>
        </p:nvSpPr>
        <p:spPr>
          <a:xfrm>
            <a:off x="4953000" y="5029200"/>
            <a:ext cx="22955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5F00"/>
                </a:solidFill>
              </a:defRPr>
            </a:pPr>
            <a:r>
              <a:rPr sz="2550" b="1">
                <a:solidFill>
                  <a:srgbClr val="C65F00"/>
                </a:solidFill>
              </a:rPr>
              <a:t>raw Gy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253F9A-BB8B-4C43-B131-D051FDC391F1}"/>
              </a:ext>
            </a:extLst>
          </p:cNvPr>
          <p:cNvSpPr>
            <a:spLocks noGrp="1"/>
          </p:cNvSpPr>
          <p:nvPr/>
        </p:nvSpPr>
        <p:spPr>
          <a:xfrm>
            <a:off x="4953000" y="548640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6673"/>
                </a:solidFill>
              </a:defRPr>
            </a:pPr>
            <a:r>
              <a:rPr sz="1275" b="0">
                <a:solidFill>
                  <a:srgbClr val="5D6673"/>
                </a:solidFill>
              </a:rPr>
              <a:t>absolute-dose comparison without rescaling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2310134-0793-453D-8364-9CDA4C201337}"/>
              </a:ext>
            </a:extLst>
          </p:cNvPr>
          <p:cNvSpPr>
            <a:spLocks noGrp="1"/>
          </p:cNvSpPr>
          <p:nvPr/>
        </p:nvSpPr>
        <p:spPr>
          <a:xfrm>
            <a:off x="8343900" y="4857750"/>
            <a:ext cx="271462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2A8096-1E6D-46C9-91CC-9E9CCEE2E1F6}"/>
              </a:ext>
            </a:extLst>
          </p:cNvPr>
          <p:cNvSpPr>
            <a:spLocks noGrp="1"/>
          </p:cNvSpPr>
          <p:nvPr/>
        </p:nvSpPr>
        <p:spPr>
          <a:xfrm>
            <a:off x="8553450" y="5029200"/>
            <a:ext cx="22955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5CAD"/>
                </a:solidFill>
              </a:defRPr>
            </a:pPr>
            <a:r>
              <a:rPr sz="2550" b="1">
                <a:solidFill>
                  <a:srgbClr val="0B5CAD"/>
                </a:solidFill>
              </a:rPr>
              <a:t>relative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DFF555-373F-45D0-A428-8523433BBCC1}"/>
              </a:ext>
            </a:extLst>
          </p:cNvPr>
          <p:cNvSpPr>
            <a:spLocks noGrp="1"/>
          </p:cNvSpPr>
          <p:nvPr/>
        </p:nvSpPr>
        <p:spPr>
          <a:xfrm>
            <a:off x="8553450" y="548640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6673"/>
                </a:solidFill>
              </a:defRPr>
            </a:pPr>
            <a:r>
              <a:rPr sz="1275" b="0">
                <a:solidFill>
                  <a:srgbClr val="5D6673"/>
                </a:solidFill>
              </a:rPr>
              <a:t>shape and penumbra after normalization</a:t>
            </a:r>
          </a:p>
        </p:txBody>
      </p:sp>
    </p:spTree>
    <p:extLst>
      <p:ext uri="{BB962C8B-B14F-4D97-AF65-F5344CB8AC3E}">
        <p14:creationId xmlns:p14="http://schemas.microsoft.com/office/powerpoint/2010/main" val="22144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53324C-C306-4591-9B6D-20746FF6247E}"/>
              </a:ext>
            </a:extLst>
          </p:cNvPr>
          <p:cNvSpPr>
            <a:spLocks noGrp="1"/>
          </p:cNvSpPr>
          <p:nvPr/>
        </p:nvSpPr>
        <p:spPr>
          <a:xfrm>
            <a:off x="11525250" y="62865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40167-EA6F-4EBD-8672-8598DC5B7CA6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0">
                <a:solidFill>
                  <a:srgbClr val="0B0F14"/>
                </a:solidFill>
              </a:defRPr>
            </a:pPr>
            <a:r>
              <a:rPr sz="3600" b="0">
                <a:solidFill>
                  <a:srgbClr val="0B0F14"/>
                </a:solidFill>
              </a:rPr>
              <a:t>Raw Gy: CSV is high in the plateau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B25085-5C47-424C-8878-939CBF56FA29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D6673"/>
                </a:solidFill>
              </a:defRPr>
            </a:pPr>
            <a:r>
              <a:rPr sz="1650" b="0">
                <a:solidFill>
                  <a:srgbClr val="5D6673"/>
                </a:solidFill>
              </a:rPr>
              <a:t>Across non-trial profiles, the high-dose CSV/MCC ratio averages 1.043.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744477-BF1F-4BC5-A880-F1A545091EC8}"/>
              </a:ext>
            </a:extLst>
          </p:cNvPr>
          <p:cNvSpPr>
            <a:spLocks noGrp="1"/>
          </p:cNvSpPr>
          <p:nvPr/>
        </p:nvSpPr>
        <p:spPr>
          <a:xfrm>
            <a:off x="590550" y="16954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3C5EF3-10D3-4C6F-B868-180E5327267B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5F00"/>
                </a:solidFill>
              </a:defRPr>
            </a:pPr>
            <a:r>
              <a:rPr sz="2550" b="1">
                <a:solidFill>
                  <a:srgbClr val="C65F00"/>
                </a:solidFill>
              </a:rPr>
              <a:t>1.043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3A32D-322D-4350-B62C-5158EE015471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1962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6673"/>
                </a:solidFill>
              </a:defRPr>
            </a:pPr>
            <a:r>
              <a:rPr sz="1275" b="0">
                <a:solidFill>
                  <a:srgbClr val="5D6673"/>
                </a:solidFill>
              </a:rPr>
              <a:t>mean high-dose CSV/MCC ratio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6FD34B-E8E9-4CE2-9180-DE9BD12DB4A8}"/>
              </a:ext>
            </a:extLst>
          </p:cNvPr>
          <p:cNvSpPr>
            <a:spLocks noGrp="1"/>
          </p:cNvSpPr>
          <p:nvPr/>
        </p:nvSpPr>
        <p:spPr>
          <a:xfrm>
            <a:off x="3162300" y="16954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3ABD01-6A19-487B-BCA5-9D3CD1B8E205}"/>
              </a:ext>
            </a:extLst>
          </p:cNvPr>
          <p:cNvSpPr>
            <a:spLocks noGrp="1"/>
          </p:cNvSpPr>
          <p:nvPr/>
        </p:nvSpPr>
        <p:spPr>
          <a:xfrm>
            <a:off x="3371850" y="18669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5F00"/>
                </a:solidFill>
              </a:defRPr>
            </a:pPr>
            <a:r>
              <a:rPr sz="2550" b="1">
                <a:solidFill>
                  <a:srgbClr val="C65F00"/>
                </a:solidFill>
              </a:rPr>
              <a:t>1.028-1.057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9F516C-9E66-440C-8B4B-999C514C8739}"/>
              </a:ext>
            </a:extLst>
          </p:cNvPr>
          <p:cNvSpPr>
            <a:spLocks noGrp="1"/>
          </p:cNvSpPr>
          <p:nvPr/>
        </p:nvSpPr>
        <p:spPr>
          <a:xfrm>
            <a:off x="3371850" y="2324100"/>
            <a:ext cx="1962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6673"/>
                </a:solidFill>
              </a:defRPr>
            </a:pPr>
            <a:r>
              <a:rPr sz="1275" b="0" dirty="0">
                <a:solidFill>
                  <a:srgbClr val="5D6673"/>
                </a:solidFill>
              </a:rPr>
              <a:t>range across pairs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704850" y="3257550"/>
          <a:ext cx="676275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Table 29"/>
          <p:cNvGraphicFramePr/>
          <p:nvPr>
            <p:extLst>
              <p:ext uri="{D42A27DB-BD31-4B8C-83A1-F6EECF244321}">
                <p14:modId xmlns:p14="http://schemas.microsoft.com/office/powerpoint/2010/main" val="3676932481"/>
              </p:ext>
            </p:extLst>
          </p:nvPr>
        </p:nvGraphicFramePr>
        <p:xfrm>
          <a:off x="8001000" y="3124201"/>
          <a:ext cx="3298371" cy="2705099"/>
        </p:xfrm>
        <a:graphic>
          <a:graphicData uri="http://schemas.openxmlformats.org/drawingml/2006/table">
            <a:tbl>
              <a:tblPr firstRow="1" bandRow="1"/>
              <a:tblGrid>
                <a:gridCol w="1754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73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Slice</a:t>
                      </a:r>
                    </a:p>
                  </a:txBody>
                  <a:tcPr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Mean ratio</a:t>
                      </a:r>
                    </a:p>
                  </a:txBody>
                  <a:tcPr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6 MeV / 10x10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1.032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9 MeV / 10x10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1.043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9 MeV / 6x6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1.051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12 MeV / 10x10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0B0F14"/>
                          </a:solidFill>
                        </a:rPr>
                        <a:t>1.044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94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939D28-59E2-4D4B-813F-67A8DDB66643}"/>
              </a:ext>
            </a:extLst>
          </p:cNvPr>
          <p:cNvSpPr>
            <a:spLocks noGrp="1"/>
          </p:cNvSpPr>
          <p:nvPr/>
        </p:nvSpPr>
        <p:spPr>
          <a:xfrm>
            <a:off x="11525250" y="62865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F113CA-2519-4E0C-A1FF-9FD934245A24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0">
                <a:solidFill>
                  <a:srgbClr val="0B0F14"/>
                </a:solidFill>
              </a:defRPr>
            </a:pPr>
            <a:r>
              <a:rPr sz="3600" b="0">
                <a:solidFill>
                  <a:srgbClr val="0B0F14"/>
                </a:solidFill>
              </a:rPr>
              <a:t>Normalized shape: plateau close, edges differ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0FF328-2D49-4C19-B2C7-291CBF75596E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D6673"/>
                </a:solidFill>
              </a:defRPr>
            </a:pPr>
            <a:r>
              <a:rPr sz="1650" b="0">
                <a:solidFill>
                  <a:srgbClr val="5D6673"/>
                </a:solidFill>
              </a:rPr>
              <a:t>Independent 80%-midpoint normalization makes the penumbra and field-width behavior visible.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C37167-5A3E-40A4-BA1E-8881B10D544B}"/>
              </a:ext>
            </a:extLst>
          </p:cNvPr>
          <p:cNvSpPr>
            <a:spLocks noGrp="1"/>
          </p:cNvSpPr>
          <p:nvPr/>
        </p:nvSpPr>
        <p:spPr>
          <a:xfrm>
            <a:off x="590550" y="16954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568042-0CED-4C6E-9FAE-0CAD5591C125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5CAD"/>
                </a:solidFill>
              </a:defRPr>
            </a:pPr>
            <a:r>
              <a:rPr sz="2550" b="1">
                <a:solidFill>
                  <a:srgbClr val="0B5CAD"/>
                </a:solidFill>
              </a:rPr>
              <a:t>2.58 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06BA8F-EA89-48F9-9590-AA3CFEB4D78C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1962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6673"/>
                </a:solidFill>
              </a:defRPr>
            </a:pPr>
            <a:r>
              <a:rPr sz="1275" b="0">
                <a:solidFill>
                  <a:srgbClr val="5D6673"/>
                </a:solidFill>
              </a:rPr>
              <a:t>mean normalized RMS &gt;=10%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DE9082-D700-4B72-AC09-981BE5C6E41D}"/>
              </a:ext>
            </a:extLst>
          </p:cNvPr>
          <p:cNvSpPr>
            <a:spLocks noGrp="1"/>
          </p:cNvSpPr>
          <p:nvPr/>
        </p:nvSpPr>
        <p:spPr>
          <a:xfrm>
            <a:off x="3162300" y="16954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6D33CC-0DC2-424D-BDAE-67AF000BB19E}"/>
              </a:ext>
            </a:extLst>
          </p:cNvPr>
          <p:cNvSpPr>
            <a:spLocks noGrp="1"/>
          </p:cNvSpPr>
          <p:nvPr/>
        </p:nvSpPr>
        <p:spPr>
          <a:xfrm>
            <a:off x="3371850" y="18669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A4342D"/>
                </a:solidFill>
              </a:defRPr>
            </a:pPr>
            <a:r>
              <a:rPr sz="2550" b="1">
                <a:solidFill>
                  <a:srgbClr val="A4342D"/>
                </a:solidFill>
              </a:rPr>
              <a:t>4.40 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E41682-1283-4255-A20A-7B39AADBBAA5}"/>
              </a:ext>
            </a:extLst>
          </p:cNvPr>
          <p:cNvSpPr>
            <a:spLocks noGrp="1"/>
          </p:cNvSpPr>
          <p:nvPr/>
        </p:nvSpPr>
        <p:spPr>
          <a:xfrm>
            <a:off x="3371850" y="2324100"/>
            <a:ext cx="1962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6673"/>
                </a:solidFill>
              </a:defRPr>
            </a:pPr>
            <a:r>
              <a:rPr sz="1275" b="0">
                <a:solidFill>
                  <a:srgbClr val="5D6673"/>
                </a:solidFill>
              </a:rPr>
              <a:t>mean penumbra/shoulder RMS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16A643F-35FF-4F26-8CDE-B173DFC644CC}"/>
              </a:ext>
            </a:extLst>
          </p:cNvPr>
          <p:cNvSpPr>
            <a:spLocks noGrp="1"/>
          </p:cNvSpPr>
          <p:nvPr/>
        </p:nvSpPr>
        <p:spPr>
          <a:xfrm>
            <a:off x="5734050" y="16954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7F34BF-0103-44DE-9C9F-ABA35AAD518E}"/>
              </a:ext>
            </a:extLst>
          </p:cNvPr>
          <p:cNvSpPr>
            <a:spLocks noGrp="1"/>
          </p:cNvSpPr>
          <p:nvPr/>
        </p:nvSpPr>
        <p:spPr>
          <a:xfrm>
            <a:off x="5943600" y="18669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5F00"/>
                </a:solidFill>
              </a:defRPr>
            </a:pPr>
            <a:r>
              <a:rPr sz="2550" b="1">
                <a:solidFill>
                  <a:srgbClr val="C65F00"/>
                </a:solidFill>
              </a:rPr>
              <a:t>-1.36 mm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7D987F-2880-4ADB-BDE8-701E9BAEC105}"/>
              </a:ext>
            </a:extLst>
          </p:cNvPr>
          <p:cNvSpPr>
            <a:spLocks noGrp="1"/>
          </p:cNvSpPr>
          <p:nvPr/>
        </p:nvSpPr>
        <p:spPr>
          <a:xfrm>
            <a:off x="5943600" y="2324100"/>
            <a:ext cx="1962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6673"/>
                </a:solidFill>
              </a:defRPr>
            </a:pPr>
            <a:r>
              <a:rPr sz="1275" b="0">
                <a:solidFill>
                  <a:srgbClr val="5D6673"/>
                </a:solidFill>
              </a:rPr>
              <a:t>mean FWHM CSV-MCC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704850" y="3238500"/>
          <a:ext cx="581025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Table 29"/>
          <p:cNvGraphicFramePr/>
          <p:nvPr/>
        </p:nvGraphicFramePr>
        <p:xfrm>
          <a:off x="7086600" y="3219450"/>
          <a:ext cx="4476750" cy="2381250"/>
        </p:xfrm>
        <a:graphic>
          <a:graphicData uri="http://schemas.openxmlformats.org/drawingml/2006/table">
            <a:tbl>
              <a:tblPr firstRow="1" bandRow="1"/>
              <a:tblGrid>
                <a:gridCol w="1711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Mean CSV-MCC</a:t>
                      </a:r>
                    </a:p>
                  </a:txBody>
                  <a:tcPr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Read</a:t>
                      </a:r>
                    </a:p>
                  </a:txBody>
                  <a:tcPr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FWHM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-1.36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CSV field is narrower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Left 80-20 penumbra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-0.84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CSV edge is sharper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Right 80-20 penumbra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-1.01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CSV edge is sharper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High-dose normalized 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0.75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F14"/>
                          </a:solidFill>
                        </a:rPr>
                        <a:t>plateau shape is close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448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A6F32F-106B-4832-8364-D1B4AE0385A9}"/>
              </a:ext>
            </a:extLst>
          </p:cNvPr>
          <p:cNvSpPr>
            <a:spLocks noGrp="1"/>
          </p:cNvSpPr>
          <p:nvPr/>
        </p:nvSpPr>
        <p:spPr>
          <a:xfrm>
            <a:off x="11525250" y="62865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4954D-38A8-48BE-B197-7DA611EB10EB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0">
                <a:solidFill>
                  <a:srgbClr val="0B0F14"/>
                </a:solidFill>
              </a:defRPr>
            </a:pPr>
            <a:r>
              <a:rPr sz="3600" b="0">
                <a:solidFill>
                  <a:srgbClr val="0B0F14"/>
                </a:solidFill>
              </a:rPr>
              <a:t>Representative raw Gy overlays</a:t>
            </a:r>
          </a:p>
        </p:txBody>
      </p:sp>
      <p:pic>
        <p:nvPicPr>
          <p:cNvPr id="12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76250" y="1695450"/>
            <a:ext cx="5524500" cy="3714750"/>
          </a:xfrm>
          <a:prstGeom prst="rect">
            <a:avLst/>
          </a:prstGeom>
        </p:spPr>
      </p:pic>
      <p:pic>
        <p:nvPicPr>
          <p:cNvPr id="13" name="Graphic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191250" y="1695450"/>
            <a:ext cx="5524500" cy="3714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6ED4E63-29BD-4EAA-9DE1-84A1CD4A6C7C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673"/>
                </a:solidFill>
              </a:defRPr>
            </a:pPr>
            <a:r>
              <a:rPr sz="1350" b="0">
                <a:solidFill>
                  <a:srgbClr val="5D6673"/>
                </a:solidFill>
              </a:rPr>
              <a:t>Left: 12 MeV 10x10 one-plate on-axis. Right: 9 MeV 6x6 two-plate 2 cm off-axis. Both retain the raw Gy scale; the lower panel is CSV minus MCC.</a:t>
            </a:r>
          </a:p>
        </p:txBody>
      </p:sp>
    </p:spTree>
    <p:extLst>
      <p:ext uri="{BB962C8B-B14F-4D97-AF65-F5344CB8AC3E}">
        <p14:creationId xmlns:p14="http://schemas.microsoft.com/office/powerpoint/2010/main" val="427378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5D83B-614E-EE43-8B6D-DBB0935E1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DB4DC0-A4A7-B5CA-8718-5E1F3DA19BAC}"/>
              </a:ext>
            </a:extLst>
          </p:cNvPr>
          <p:cNvSpPr>
            <a:spLocks noGrp="1"/>
          </p:cNvSpPr>
          <p:nvPr/>
        </p:nvSpPr>
        <p:spPr>
          <a:xfrm>
            <a:off x="11525250" y="62865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822CEC-8B05-5109-E66B-29BE6B96AC93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0">
                <a:solidFill>
                  <a:srgbClr val="0B0F14"/>
                </a:solidFill>
              </a:defRPr>
            </a:pPr>
            <a:r>
              <a:rPr lang="en-US" sz="3600" b="0" dirty="0">
                <a:solidFill>
                  <a:srgbClr val="0B0F14"/>
                </a:solidFill>
              </a:rPr>
              <a:t>Normalized </a:t>
            </a:r>
            <a:r>
              <a:rPr sz="3600" b="0" dirty="0">
                <a:solidFill>
                  <a:srgbClr val="0B0F14"/>
                </a:solidFill>
              </a:rPr>
              <a:t>overlays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BD4D98B-7A9B-CD39-EBC2-B39EEBBB0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80580" y="1695450"/>
            <a:ext cx="5515840" cy="37147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364AF14-C650-BE9B-9313-488B308A3A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195580" y="1695450"/>
            <a:ext cx="5515840" cy="3714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284F253-1B71-2E27-212F-26B7E39E01DA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673"/>
                </a:solidFill>
              </a:defRPr>
            </a:pPr>
            <a:r>
              <a:rPr sz="1350" b="0">
                <a:solidFill>
                  <a:srgbClr val="5D6673"/>
                </a:solidFill>
              </a:rPr>
              <a:t>Left: 12 MeV 10x10 one-plate on-axis. Right: 9 MeV 6x6 two-plate 2 cm off-axis. Both retain the raw Gy scale; the lower panel is CSV minus MCC.</a:t>
            </a:r>
          </a:p>
        </p:txBody>
      </p:sp>
    </p:spTree>
    <p:extLst>
      <p:ext uri="{BB962C8B-B14F-4D97-AF65-F5344CB8AC3E}">
        <p14:creationId xmlns:p14="http://schemas.microsoft.com/office/powerpoint/2010/main" val="989257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9C078-8091-4B2E-B82E-E99FC0ED3BF1}"/>
              </a:ext>
            </a:extLst>
          </p:cNvPr>
          <p:cNvSpPr>
            <a:spLocks noGrp="1"/>
          </p:cNvSpPr>
          <p:nvPr/>
        </p:nvSpPr>
        <p:spPr>
          <a:xfrm>
            <a:off x="11525250" y="62865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3A35BA-B02B-4E57-A9D5-1C47526A1DC2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0">
                <a:solidFill>
                  <a:srgbClr val="0B0F14"/>
                </a:solidFill>
              </a:defRPr>
            </a:pPr>
            <a:r>
              <a:rPr sz="3600" b="0">
                <a:solidFill>
                  <a:srgbClr val="0B0F14"/>
                </a:solidFill>
              </a:rPr>
              <a:t>Good signal; not paper-ready yet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30DCEF-4711-4A3B-A090-A38B44C6CE10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D6673"/>
                </a:solidFill>
              </a:defRPr>
            </a:pPr>
            <a:r>
              <a:rPr sz="1650" b="0" dirty="0">
                <a:solidFill>
                  <a:srgbClr val="5D6673"/>
                </a:solidFill>
              </a:rPr>
              <a:t>The first experiment is most useful as a </a:t>
            </a:r>
            <a:r>
              <a:rPr lang="en-US" sz="1650" b="0" dirty="0">
                <a:solidFill>
                  <a:srgbClr val="5D6673"/>
                </a:solidFill>
              </a:rPr>
              <a:t>check and future motivation for direction</a:t>
            </a:r>
            <a:endParaRPr sz="1650" b="0" dirty="0">
              <a:solidFill>
                <a:srgbClr val="5D6673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A1C9ED-5A37-48B1-ABC9-6B8C2184B841}"/>
              </a:ext>
            </a:extLst>
          </p:cNvPr>
          <p:cNvSpPr>
            <a:spLocks noGrp="1"/>
          </p:cNvSpPr>
          <p:nvPr/>
        </p:nvSpPr>
        <p:spPr>
          <a:xfrm>
            <a:off x="571500" y="1924050"/>
            <a:ext cx="4953000" cy="3429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996AF-2D21-408D-B941-6FD56AB809F0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2715B"/>
                </a:solidFill>
              </a:defRPr>
            </a:pPr>
            <a:r>
              <a:rPr sz="2550" b="1">
                <a:solidFill>
                  <a:srgbClr val="12715B"/>
                </a:solidFill>
              </a:rPr>
              <a:t>Good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2484A6-30FE-4E7D-88A2-BD6D011B09F0}"/>
              </a:ext>
            </a:extLst>
          </p:cNvPr>
          <p:cNvSpPr>
            <a:spLocks noGrp="1"/>
          </p:cNvSpPr>
          <p:nvPr/>
        </p:nvSpPr>
        <p:spPr>
          <a:xfrm>
            <a:off x="857250" y="2819400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0F14"/>
                </a:solidFill>
              </a:defRPr>
            </a:pPr>
            <a:r>
              <a:rPr sz="1575" b="0">
                <a:solidFill>
                  <a:srgbClr val="0B0F14"/>
                </a:solidFill>
              </a:rPr>
              <a:t>- Matched MCC/CSV pairing and central-crossplane extraction now work end-to-end.</a:t>
            </a:r>
          </a:p>
          <a:p>
            <a:pPr algn="l">
              <a:defRPr sz="1575" b="0">
                <a:solidFill>
                  <a:srgbClr val="0B0F14"/>
                </a:solidFill>
              </a:defRPr>
            </a:pPr>
            <a:r>
              <a:rPr sz="1575" b="0">
                <a:solidFill>
                  <a:srgbClr val="0B0F14"/>
                </a:solidFill>
              </a:rPr>
              <a:t>- High-dose normalized shape is generally close.</a:t>
            </a:r>
          </a:p>
          <a:p>
            <a:pPr algn="l">
              <a:defRPr sz="1575" b="0">
                <a:solidFill>
                  <a:srgbClr val="0B0F14"/>
                </a:solidFill>
              </a:defRPr>
            </a:pPr>
            <a:r>
              <a:rPr sz="1575" b="0">
                <a:solidFill>
                  <a:srgbClr val="0B0F14"/>
                </a:solidFill>
              </a:rPr>
              <a:t>- Absolute offset is consistent enough to investigate systematically.</a:t>
            </a:r>
          </a:p>
          <a:p>
            <a:pPr algn="l">
              <a:defRPr sz="1575" b="0">
                <a:solidFill>
                  <a:srgbClr val="0B0F14"/>
                </a:solidFill>
              </a:defRPr>
            </a:pPr>
            <a:r>
              <a:rPr sz="1575" b="0">
                <a:solidFill>
                  <a:srgbClr val="0B0F14"/>
                </a:solidFill>
              </a:rPr>
              <a:t>- Outputs are traceable: per-point tables, metrics, and overlay plots.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5627AC3-FD97-4D4B-80CD-57FF0FA5F1D2}"/>
              </a:ext>
            </a:extLst>
          </p:cNvPr>
          <p:cNvSpPr>
            <a:spLocks noGrp="1"/>
          </p:cNvSpPr>
          <p:nvPr/>
        </p:nvSpPr>
        <p:spPr>
          <a:xfrm>
            <a:off x="6667500" y="1924050"/>
            <a:ext cx="4953000" cy="3429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82BDF-44BF-4498-86C8-C80349DE58F2}"/>
              </a:ext>
            </a:extLst>
          </p:cNvPr>
          <p:cNvSpPr>
            <a:spLocks noGrp="1"/>
          </p:cNvSpPr>
          <p:nvPr/>
        </p:nvSpPr>
        <p:spPr>
          <a:xfrm>
            <a:off x="69342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A4342D"/>
                </a:solidFill>
              </a:defRPr>
            </a:pPr>
            <a:r>
              <a:rPr sz="2550" b="1" dirty="0">
                <a:solidFill>
                  <a:srgbClr val="A4342D"/>
                </a:solidFill>
              </a:rPr>
              <a:t>Bad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2FFBB0-227A-46C0-9B96-EA263552E582}"/>
              </a:ext>
            </a:extLst>
          </p:cNvPr>
          <p:cNvSpPr>
            <a:spLocks noGrp="1"/>
          </p:cNvSpPr>
          <p:nvPr/>
        </p:nvSpPr>
        <p:spPr>
          <a:xfrm>
            <a:off x="6953250" y="28194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0F14"/>
                </a:solidFill>
              </a:defRPr>
            </a:pPr>
            <a:r>
              <a:rPr sz="1575" b="0" dirty="0">
                <a:solidFill>
                  <a:srgbClr val="0B0F14"/>
                </a:solidFill>
              </a:rPr>
              <a:t>- RayStation CSV is consistently high in the high-dose region by roughly 3-5%.</a:t>
            </a:r>
          </a:p>
          <a:p>
            <a:pPr algn="l">
              <a:defRPr sz="1575" b="0">
                <a:solidFill>
                  <a:srgbClr val="0B0F14"/>
                </a:solidFill>
              </a:defRPr>
            </a:pPr>
            <a:r>
              <a:rPr sz="1575" b="0" dirty="0">
                <a:solidFill>
                  <a:srgbClr val="0B0F14"/>
                </a:solidFill>
              </a:rPr>
              <a:t>- CSV profiles tend to be narrower and have sharper 80-20 penumbra.</a:t>
            </a:r>
          </a:p>
          <a:p>
            <a:pPr algn="l">
              <a:defRPr sz="1575" b="0">
                <a:solidFill>
                  <a:srgbClr val="0B0F14"/>
                </a:solidFill>
              </a:defRPr>
            </a:pPr>
            <a:r>
              <a:rPr sz="1575" b="0" dirty="0">
                <a:solidFill>
                  <a:srgbClr val="0B0F14"/>
                </a:solidFill>
              </a:rPr>
              <a:t>- Coverage is sparse: no ful</a:t>
            </a:r>
            <a:r>
              <a:rPr lang="en-US" sz="1575" dirty="0">
                <a:solidFill>
                  <a:srgbClr val="0B0F14"/>
                </a:solidFill>
              </a:rPr>
              <a:t>l sweep </a:t>
            </a:r>
            <a:r>
              <a:rPr sz="1575" b="0" dirty="0">
                <a:solidFill>
                  <a:srgbClr val="0B0F14"/>
                </a:solidFill>
              </a:rPr>
              <a:t>across energies, sizes, materials, and thicknesses.</a:t>
            </a:r>
          </a:p>
        </p:txBody>
      </p:sp>
    </p:spTree>
    <p:extLst>
      <p:ext uri="{BB962C8B-B14F-4D97-AF65-F5344CB8AC3E}">
        <p14:creationId xmlns:p14="http://schemas.microsoft.com/office/powerpoint/2010/main" val="17885057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705</Words>
  <Application>Microsoft Macintosh PowerPoint</Application>
  <DocSecurity>0</DocSecurity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New, Parker</cp:lastModifiedBy>
  <cp:revision>2</cp:revision>
  <dcterms:created xsi:type="dcterms:W3CDTF">2026-06-22T21:56:12Z</dcterms:created>
  <dcterms:modified xsi:type="dcterms:W3CDTF">2026-06-22T22:29:16Z</dcterms:modified>
</cp:coreProperties>
</file>